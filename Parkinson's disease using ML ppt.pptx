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Default Extension="png" ContentType="image/png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2068" y="145745"/>
            <a:ext cx="10887862" cy="83350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34034" y="1422654"/>
            <a:ext cx="10620375" cy="3703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://www.jbrec.edu.in/" TargetMode="External"/><Relationship Id="rId5" Type="http://schemas.openxmlformats.org/officeDocument/2006/relationships/hyperlink" Target="mailto:principal@jbrec.edu.in" TargetMode="External"/><Relationship Id="rId6" Type="http://schemas.openxmlformats.org/officeDocument/2006/relationships/image" Target="../media/image5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 descr="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7999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2023" y="97535"/>
              <a:ext cx="2590800" cy="2112263"/>
            </a:xfrm>
            <a:prstGeom prst="rect">
              <a:avLst/>
            </a:prstGeom>
          </p:spPr>
        </p:pic>
      </p:grp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3420617" y="145745"/>
            <a:ext cx="7444105" cy="45402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50">
                <a:solidFill>
                  <a:srgbClr val="00AF50"/>
                </a:solidFill>
                <a:latin typeface="Arial"/>
                <a:cs typeface="Arial"/>
              </a:rPr>
              <a:t>JOGINPALLY</a:t>
            </a:r>
            <a:r>
              <a:rPr dirty="0" sz="2800" spc="-6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0AF50"/>
                </a:solidFill>
                <a:latin typeface="Arial"/>
                <a:cs typeface="Arial"/>
              </a:rPr>
              <a:t>B.R.</a:t>
            </a:r>
            <a:r>
              <a:rPr dirty="0" sz="2800" spc="-65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800">
                <a:solidFill>
                  <a:srgbClr val="00AF50"/>
                </a:solidFill>
                <a:latin typeface="Arial"/>
                <a:cs typeface="Arial"/>
              </a:rPr>
              <a:t>ENGINEERING</a:t>
            </a:r>
            <a:r>
              <a:rPr dirty="0" sz="2800" spc="-120">
                <a:solidFill>
                  <a:srgbClr val="00AF50"/>
                </a:solidFill>
                <a:latin typeface="Arial"/>
                <a:cs typeface="Arial"/>
              </a:rPr>
              <a:t> </a:t>
            </a:r>
            <a:r>
              <a:rPr dirty="0" sz="2800" spc="-10">
                <a:solidFill>
                  <a:srgbClr val="00AF50"/>
                </a:solidFill>
                <a:latin typeface="Arial"/>
                <a:cs typeface="Arial"/>
              </a:rPr>
              <a:t>COLLEGE</a:t>
            </a:r>
            <a:endParaRPr sz="2800">
              <a:latin typeface="Arial"/>
              <a:cs typeface="Arial"/>
            </a:endParaRPr>
          </a:p>
        </p:txBody>
      </p:sp>
      <p:sp>
        <p:nvSpPr>
          <p:cNvPr id="6" name="object 6" descr=""/>
          <p:cNvSpPr txBox="1"/>
          <p:nvPr/>
        </p:nvSpPr>
        <p:spPr>
          <a:xfrm>
            <a:off x="2914650" y="588390"/>
            <a:ext cx="8895715" cy="1534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 marL="1069975" marR="1505585">
              <a:lnSpc>
                <a:spcPct val="110000"/>
              </a:lnSpc>
              <a:spcBef>
                <a:spcPts val="100"/>
              </a:spcBef>
            </a:pPr>
            <a:r>
              <a:rPr dirty="0" sz="1800" b="1">
                <a:latin typeface="Arial"/>
                <a:cs typeface="Arial"/>
              </a:rPr>
              <a:t>Accredited</a:t>
            </a:r>
            <a:r>
              <a:rPr dirty="0" sz="1800" spc="-4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by</a:t>
            </a:r>
            <a:r>
              <a:rPr dirty="0" sz="1800" spc="-1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NAAC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A+,</a:t>
            </a:r>
            <a:r>
              <a:rPr dirty="0" sz="1800" spc="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Recognized</a:t>
            </a:r>
            <a:r>
              <a:rPr dirty="0" sz="1800" spc="-6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by</a:t>
            </a:r>
            <a:r>
              <a:rPr dirty="0" sz="1800" spc="-3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UGC</a:t>
            </a:r>
            <a:r>
              <a:rPr dirty="0" sz="1800" spc="-2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2(f)</a:t>
            </a:r>
            <a:r>
              <a:rPr dirty="0" sz="1800" spc="-9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Act.1956 </a:t>
            </a:r>
            <a:r>
              <a:rPr dirty="0" sz="1800" b="1">
                <a:latin typeface="Arial"/>
                <a:cs typeface="Arial"/>
              </a:rPr>
              <a:t>Approved</a:t>
            </a:r>
            <a:r>
              <a:rPr dirty="0" sz="1800" spc="-2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by</a:t>
            </a:r>
            <a:r>
              <a:rPr dirty="0" sz="1800" spc="-114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AICTE</a:t>
            </a:r>
            <a:r>
              <a:rPr dirty="0" sz="1800" spc="-1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&amp;</a:t>
            </a:r>
            <a:r>
              <a:rPr dirty="0" sz="1800" spc="-105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Affiliated</a:t>
            </a:r>
            <a:r>
              <a:rPr dirty="0" sz="1800" spc="-3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TO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b="1">
                <a:latin typeface="Arial"/>
                <a:cs typeface="Arial"/>
              </a:rPr>
              <a:t>JNTUH,</a:t>
            </a:r>
            <a:r>
              <a:rPr dirty="0" sz="1800" spc="-50" b="1">
                <a:latin typeface="Arial"/>
                <a:cs typeface="Arial"/>
              </a:rPr>
              <a:t> </a:t>
            </a:r>
            <a:r>
              <a:rPr dirty="0" sz="1800" spc="-10" b="1">
                <a:latin typeface="Arial"/>
                <a:cs typeface="Arial"/>
              </a:rPr>
              <a:t>Hyderabad.</a:t>
            </a:r>
            <a:endParaRPr sz="18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215"/>
              </a:spcBef>
            </a:pPr>
            <a:r>
              <a:rPr dirty="0" sz="1800" spc="-10">
                <a:latin typeface="Arial MT"/>
                <a:cs typeface="Arial MT"/>
              </a:rPr>
              <a:t>Yenkapally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(V),</a:t>
            </a:r>
            <a:r>
              <a:rPr dirty="0" sz="1800" spc="-2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Moinabad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(M), </a:t>
            </a:r>
            <a:r>
              <a:rPr dirty="0" sz="1800" spc="-40">
                <a:latin typeface="Arial MT"/>
                <a:cs typeface="Arial MT"/>
              </a:rPr>
              <a:t>P.O.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Himayat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</a:rPr>
              <a:t>Nagar,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R.R.</a:t>
            </a:r>
            <a:r>
              <a:rPr dirty="0" sz="1800" spc="-5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District,</a:t>
            </a:r>
            <a:r>
              <a:rPr dirty="0" sz="1800" spc="-6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Hyderabad</a:t>
            </a:r>
            <a:r>
              <a:rPr dirty="0" sz="1800" spc="-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–</a:t>
            </a:r>
            <a:r>
              <a:rPr dirty="0" sz="1800" spc="-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500</a:t>
            </a:r>
            <a:r>
              <a:rPr dirty="0" sz="1800" spc="-40">
                <a:latin typeface="Arial MT"/>
                <a:cs typeface="Arial MT"/>
              </a:rPr>
              <a:t> </a:t>
            </a:r>
            <a:r>
              <a:rPr dirty="0" sz="1800" spc="-20">
                <a:latin typeface="Arial MT"/>
                <a:cs typeface="Arial MT"/>
              </a:rPr>
              <a:t>075.</a:t>
            </a:r>
            <a:endParaRPr sz="1800">
              <a:latin typeface="Arial MT"/>
              <a:cs typeface="Arial MT"/>
            </a:endParaRPr>
          </a:p>
          <a:p>
            <a:pPr algn="ctr" marR="427990">
              <a:lnSpc>
                <a:spcPct val="100000"/>
              </a:lnSpc>
              <a:spcBef>
                <a:spcPts val="219"/>
              </a:spcBef>
            </a:pPr>
            <a:r>
              <a:rPr dirty="0" sz="1800">
                <a:latin typeface="Arial MT"/>
                <a:cs typeface="Arial MT"/>
              </a:rPr>
              <a:t>Phone:</a:t>
            </a:r>
            <a:r>
              <a:rPr dirty="0" sz="1800" spc="-3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08413-235684,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235051,</a:t>
            </a:r>
            <a:r>
              <a:rPr dirty="0" sz="1800" spc="-45">
                <a:latin typeface="Arial MT"/>
                <a:cs typeface="Arial MT"/>
              </a:rPr>
              <a:t> Tele</a:t>
            </a:r>
            <a:r>
              <a:rPr dirty="0" sz="1800" spc="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Fax:</a:t>
            </a:r>
            <a:r>
              <a:rPr dirty="0" sz="1800" spc="4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08413-</a:t>
            </a:r>
            <a:r>
              <a:rPr dirty="0" sz="1800" spc="-10">
                <a:latin typeface="Arial MT"/>
                <a:cs typeface="Arial MT"/>
              </a:rPr>
              <a:t>235125</a:t>
            </a:r>
            <a:endParaRPr sz="1800">
              <a:latin typeface="Arial MT"/>
              <a:cs typeface="Arial MT"/>
            </a:endParaRPr>
          </a:p>
          <a:p>
            <a:pPr algn="ctr" marR="430530">
              <a:lnSpc>
                <a:spcPct val="100000"/>
              </a:lnSpc>
              <a:spcBef>
                <a:spcPts val="215"/>
              </a:spcBef>
            </a:pPr>
            <a:r>
              <a:rPr dirty="0" sz="1800">
                <a:latin typeface="Arial MT"/>
                <a:cs typeface="Arial MT"/>
              </a:rPr>
              <a:t>Website:</a:t>
            </a:r>
            <a:r>
              <a:rPr dirty="0" sz="1800" spc="-7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  <a:hlinkClick r:id="rId4"/>
              </a:rPr>
              <a:t>www.jbrec.edu.in,</a:t>
            </a:r>
            <a:r>
              <a:rPr dirty="0" sz="1800" spc="10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e-</a:t>
            </a:r>
            <a:r>
              <a:rPr dirty="0" sz="1800" spc="-15">
                <a:latin typeface="Arial MT"/>
                <a:cs typeface="Arial MT"/>
              </a:rPr>
              <a:t> </a:t>
            </a:r>
            <a:r>
              <a:rPr dirty="0" sz="1800">
                <a:latin typeface="Arial MT"/>
                <a:cs typeface="Arial MT"/>
              </a:rPr>
              <a:t>mail:</a:t>
            </a:r>
            <a:r>
              <a:rPr dirty="0" sz="1800" spc="-35">
                <a:latin typeface="Arial MT"/>
                <a:cs typeface="Arial MT"/>
              </a:rPr>
              <a:t> </a:t>
            </a:r>
            <a:r>
              <a:rPr dirty="0" sz="1800" spc="-10">
                <a:latin typeface="Arial MT"/>
                <a:cs typeface="Arial MT"/>
                <a:hlinkClick r:id="rId5"/>
              </a:rPr>
              <a:t>principal@jbrec.edu.in</a:t>
            </a:r>
            <a:endParaRPr sz="1800">
              <a:latin typeface="Arial MT"/>
              <a:cs typeface="Arial MT"/>
            </a:endParaRPr>
          </a:p>
        </p:txBody>
      </p:sp>
      <p:pic>
        <p:nvPicPr>
          <p:cNvPr id="7" name="object 7" descr="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806696" y="2316479"/>
            <a:ext cx="2578607" cy="2712720"/>
          </a:xfrm>
          <a:prstGeom prst="rect">
            <a:avLst/>
          </a:prstGeom>
        </p:spPr>
      </p:pic>
      <p:sp>
        <p:nvSpPr>
          <p:cNvPr id="8" name="object 8" descr=""/>
          <p:cNvSpPr txBox="1"/>
          <p:nvPr/>
        </p:nvSpPr>
        <p:spPr>
          <a:xfrm>
            <a:off x="3280409" y="5044236"/>
            <a:ext cx="6093460" cy="1387475"/>
          </a:xfrm>
          <a:prstGeom prst="rect">
            <a:avLst/>
          </a:prstGeom>
        </p:spPr>
        <p:txBody>
          <a:bodyPr wrap="square" lIns="0" tIns="38100" rIns="0" bIns="0" rtlCol="0" vert="horz">
            <a:spAutoFit/>
          </a:bodyPr>
          <a:lstStyle/>
          <a:p>
            <a:pPr marL="12700" marR="5080">
              <a:lnSpc>
                <a:spcPts val="5310"/>
              </a:lnSpc>
              <a:spcBef>
                <a:spcPts val="300"/>
              </a:spcBef>
            </a:pPr>
            <a:r>
              <a:rPr dirty="0" sz="4500" b="1">
                <a:solidFill>
                  <a:srgbClr val="001F5F"/>
                </a:solidFill>
                <a:latin typeface="Times New Roman"/>
                <a:cs typeface="Times New Roman"/>
              </a:rPr>
              <a:t>Parkinson’s</a:t>
            </a:r>
            <a:r>
              <a:rPr dirty="0" sz="4500" spc="-26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4500" spc="-10" b="1">
                <a:solidFill>
                  <a:srgbClr val="001F5F"/>
                </a:solidFill>
                <a:latin typeface="Times New Roman"/>
                <a:cs typeface="Times New Roman"/>
              </a:rPr>
              <a:t>Disease </a:t>
            </a:r>
            <a:r>
              <a:rPr dirty="0" sz="4500" b="1">
                <a:solidFill>
                  <a:srgbClr val="001F5F"/>
                </a:solidFill>
                <a:latin typeface="Times New Roman"/>
                <a:cs typeface="Times New Roman"/>
              </a:rPr>
              <a:t>Using</a:t>
            </a:r>
            <a:r>
              <a:rPr dirty="0" sz="4500" spc="-70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4500" b="1">
                <a:solidFill>
                  <a:srgbClr val="001F5F"/>
                </a:solidFill>
                <a:latin typeface="Times New Roman"/>
                <a:cs typeface="Times New Roman"/>
              </a:rPr>
              <a:t>Machine</a:t>
            </a:r>
            <a:r>
              <a:rPr dirty="0" sz="4500" spc="-35" b="1">
                <a:solidFill>
                  <a:srgbClr val="001F5F"/>
                </a:solidFill>
                <a:latin typeface="Times New Roman"/>
                <a:cs typeface="Times New Roman"/>
              </a:rPr>
              <a:t> </a:t>
            </a:r>
            <a:r>
              <a:rPr dirty="0" sz="4500" spc="-10" b="1">
                <a:solidFill>
                  <a:srgbClr val="001F5F"/>
                </a:solidFill>
                <a:latin typeface="Times New Roman"/>
                <a:cs typeface="Times New Roman"/>
              </a:rPr>
              <a:t>Learning</a:t>
            </a:r>
            <a:endParaRPr sz="4500">
              <a:latin typeface="Times New Roman"/>
              <a:cs typeface="Times New Roman"/>
            </a:endParaRPr>
          </a:p>
        </p:txBody>
      </p:sp>
      <p:sp>
        <p:nvSpPr>
          <p:cNvPr id="9" name="object 9" descr=""/>
          <p:cNvSpPr txBox="1"/>
          <p:nvPr/>
        </p:nvSpPr>
        <p:spPr>
          <a:xfrm>
            <a:off x="9532366" y="2851809"/>
            <a:ext cx="2308860" cy="2081530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2400">
                <a:latin typeface="Times New Roman"/>
                <a:cs typeface="Times New Roman"/>
              </a:rPr>
              <a:t>PRESENTED</a:t>
            </a:r>
            <a:r>
              <a:rPr dirty="0" sz="2400" spc="-50">
                <a:latin typeface="Times New Roman"/>
                <a:cs typeface="Times New Roman"/>
              </a:rPr>
              <a:t> BY: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0"/>
              </a:spcBef>
            </a:pPr>
            <a:r>
              <a:rPr dirty="0" sz="2400">
                <a:latin typeface="Times New Roman"/>
                <a:cs typeface="Times New Roman"/>
              </a:rPr>
              <a:t>M.</a:t>
            </a:r>
            <a:r>
              <a:rPr dirty="0" sz="2400" spc="-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Sai</a:t>
            </a:r>
            <a:r>
              <a:rPr dirty="0" sz="2400" spc="-10">
                <a:latin typeface="Times New Roman"/>
                <a:cs typeface="Times New Roman"/>
              </a:rPr>
              <a:t> Prasanna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>
                <a:latin typeface="Times New Roman"/>
                <a:cs typeface="Times New Roman"/>
              </a:rPr>
              <a:t>S.</a:t>
            </a:r>
            <a:r>
              <a:rPr dirty="0" sz="2400" spc="-10">
                <a:latin typeface="Times New Roman"/>
                <a:cs typeface="Times New Roman"/>
              </a:rPr>
              <a:t> Hemalatha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2400" spc="-170">
                <a:latin typeface="Times New Roman"/>
                <a:cs typeface="Times New Roman"/>
              </a:rPr>
              <a:t>V.</a:t>
            </a:r>
            <a:r>
              <a:rPr dirty="0" sz="2400" spc="20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Praveen</a:t>
            </a:r>
            <a:r>
              <a:rPr dirty="0" sz="2400" spc="-45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Kumar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dirty="0" sz="2400" spc="-75">
                <a:latin typeface="Times New Roman"/>
                <a:cs typeface="Times New Roman"/>
              </a:rPr>
              <a:t>T. </a:t>
            </a:r>
            <a:r>
              <a:rPr dirty="0" sz="2400" spc="-10">
                <a:latin typeface="Times New Roman"/>
                <a:cs typeface="Times New Roman"/>
              </a:rPr>
              <a:t>Vinay</a:t>
            </a:r>
            <a:r>
              <a:rPr dirty="0" sz="2400" spc="-14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Kumar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0" name="object 10" descr=""/>
          <p:cNvSpPr txBox="1"/>
          <p:nvPr/>
        </p:nvSpPr>
        <p:spPr>
          <a:xfrm>
            <a:off x="271373" y="3053739"/>
            <a:ext cx="2798445" cy="983615"/>
          </a:xfrm>
          <a:prstGeom prst="rect">
            <a:avLst/>
          </a:prstGeom>
        </p:spPr>
        <p:txBody>
          <a:bodyPr wrap="square" lIns="0" tIns="12573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90"/>
              </a:spcBef>
            </a:pPr>
            <a:r>
              <a:rPr dirty="0" sz="2400">
                <a:latin typeface="Times New Roman"/>
                <a:cs typeface="Times New Roman"/>
              </a:rPr>
              <a:t>GUIDE</a:t>
            </a:r>
            <a:r>
              <a:rPr dirty="0" sz="2400" spc="-5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NAME:</a:t>
            </a: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95"/>
              </a:spcBef>
            </a:pPr>
            <a:r>
              <a:rPr dirty="0" sz="2400" spc="-10">
                <a:latin typeface="Times New Roman"/>
                <a:cs typeface="Times New Roman"/>
              </a:rPr>
              <a:t>Mr.</a:t>
            </a:r>
            <a:r>
              <a:rPr dirty="0" sz="2400" spc="-6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K.</a:t>
            </a:r>
            <a:r>
              <a:rPr dirty="0" sz="2400" spc="-75">
                <a:latin typeface="Times New Roman"/>
                <a:cs typeface="Times New Roman"/>
              </a:rPr>
              <a:t> </a:t>
            </a:r>
            <a:r>
              <a:rPr dirty="0" sz="2400">
                <a:latin typeface="Times New Roman"/>
                <a:cs typeface="Times New Roman"/>
              </a:rPr>
              <a:t>Praveen</a:t>
            </a:r>
            <a:r>
              <a:rPr dirty="0" sz="2400" spc="-60">
                <a:latin typeface="Times New Roman"/>
                <a:cs typeface="Times New Roman"/>
              </a:rPr>
              <a:t> </a:t>
            </a:r>
            <a:r>
              <a:rPr dirty="0" sz="2400" spc="-10">
                <a:latin typeface="Times New Roman"/>
                <a:cs typeface="Times New Roman"/>
              </a:rPr>
              <a:t>kumar.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45866" y="219532"/>
            <a:ext cx="5659120" cy="636905"/>
          </a:xfrm>
          <a:prstGeom prst="rect"/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TITLE</a:t>
            </a:r>
            <a:r>
              <a:rPr dirty="0" spc="-55"/>
              <a:t> </a:t>
            </a:r>
            <a:r>
              <a:rPr dirty="0" spc="-10"/>
              <a:t>JUSTIFICATION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652068" y="1183970"/>
            <a:ext cx="10793730" cy="5146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68935" marR="5080" indent="-35687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68935" algn="l"/>
                <a:tab pos="450850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	Parkinson's</a:t>
            </a:r>
            <a:r>
              <a:rPr dirty="0" sz="2600" spc="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disease</a:t>
            </a:r>
            <a:r>
              <a:rPr dirty="0" sz="2600" spc="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1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progressive</a:t>
            </a:r>
            <a:r>
              <a:rPr dirty="0" sz="2600" spc="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disorder</a:t>
            </a:r>
            <a:r>
              <a:rPr dirty="0" sz="260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dirty="0" sz="2600" spc="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affects</a:t>
            </a:r>
            <a:r>
              <a:rPr dirty="0" sz="2600" spc="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nervous</a:t>
            </a:r>
            <a:r>
              <a:rPr dirty="0" sz="2600" spc="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 b="1">
                <a:solidFill>
                  <a:srgbClr val="FFFFFF"/>
                </a:solidFill>
                <a:latin typeface="Times New Roman"/>
                <a:cs typeface="Times New Roman"/>
              </a:rPr>
              <a:t>system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parts</a:t>
            </a:r>
            <a:r>
              <a:rPr dirty="0" sz="2600" spc="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7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body</a:t>
            </a:r>
            <a:r>
              <a:rPr dirty="0" sz="2600" spc="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controlled</a:t>
            </a:r>
            <a:r>
              <a:rPr dirty="0" sz="2600" spc="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2600" spc="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9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nerves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Symptoms</a:t>
            </a:r>
            <a:r>
              <a:rPr dirty="0" sz="2600" spc="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start</a:t>
            </a:r>
            <a:r>
              <a:rPr dirty="0" sz="26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slowly.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2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first</a:t>
            </a:r>
            <a:r>
              <a:rPr dirty="0" sz="2600" spc="2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symptom</a:t>
            </a:r>
            <a:r>
              <a:rPr dirty="0" sz="2600" spc="4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dirty="0" sz="2600" spc="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dirty="0" sz="2600" spc="2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2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barely</a:t>
            </a:r>
            <a:r>
              <a:rPr dirty="0" sz="2600" spc="6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noticeable</a:t>
            </a:r>
            <a:r>
              <a:rPr dirty="0" sz="2600" spc="3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tremor</a:t>
            </a:r>
            <a:r>
              <a:rPr dirty="0" sz="2600" spc="2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600" spc="3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just</a:t>
            </a:r>
            <a:r>
              <a:rPr dirty="0" sz="2600" spc="25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dirty="0" sz="2600" spc="30">
                <a:solidFill>
                  <a:srgbClr val="FFFFFF"/>
                </a:solidFill>
                <a:latin typeface="Times New Roman"/>
                <a:cs typeface="Times New Roman"/>
              </a:rPr>
              <a:t> 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hand.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Tremors</a:t>
            </a:r>
            <a:r>
              <a:rPr dirty="0" sz="2600" spc="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dirty="0" sz="260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common,</a:t>
            </a:r>
            <a:r>
              <a:rPr dirty="0" sz="2600" spc="1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dirty="0" sz="2600" spc="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disorder</a:t>
            </a:r>
            <a:r>
              <a:rPr dirty="0" sz="260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may</a:t>
            </a:r>
            <a:r>
              <a:rPr dirty="0" sz="26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dirty="0" sz="2600" spc="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cause</a:t>
            </a:r>
            <a:r>
              <a:rPr dirty="0" sz="2600" spc="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stiffness</a:t>
            </a:r>
            <a:r>
              <a:rPr dirty="0" sz="2600" spc="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2600" spc="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slowing</a:t>
            </a:r>
            <a:r>
              <a:rPr dirty="0" sz="2600" spc="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of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movement.</a:t>
            </a:r>
            <a:endParaRPr sz="2600">
              <a:latin typeface="Times New Roman"/>
              <a:cs typeface="Times New Roman"/>
            </a:endParaRPr>
          </a:p>
          <a:p>
            <a:pPr algn="just" marL="490855" marR="7620" indent="-451484">
              <a:lnSpc>
                <a:spcPct val="100000"/>
              </a:lnSpc>
              <a:spcBef>
                <a:spcPts val="2880"/>
              </a:spcBef>
              <a:buFont typeface="Wingdings"/>
              <a:buChar char=""/>
              <a:tabLst>
                <a:tab pos="490855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recent</a:t>
            </a:r>
            <a:r>
              <a:rPr dirty="0" sz="26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report</a:t>
            </a:r>
            <a:r>
              <a:rPr dirty="0" sz="2600" spc="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World</a:t>
            </a:r>
            <a:r>
              <a:rPr dirty="0" sz="2600" spc="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Health</a:t>
            </a:r>
            <a:r>
              <a:rPr dirty="0" sz="2600" spc="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Organization</a:t>
            </a:r>
            <a:r>
              <a:rPr dirty="0" sz="26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shows</a:t>
            </a:r>
            <a:r>
              <a:rPr dirty="0" sz="2600" spc="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1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visible</a:t>
            </a:r>
            <a:r>
              <a:rPr dirty="0" sz="2600" spc="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increase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600" spc="3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40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number</a:t>
            </a:r>
            <a:r>
              <a:rPr dirty="0" sz="2600" spc="4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3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health</a:t>
            </a:r>
            <a:r>
              <a:rPr dirty="0" sz="2600" spc="3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burden</a:t>
            </a:r>
            <a:r>
              <a:rPr dirty="0" sz="2600" spc="4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4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Parkinson’s</a:t>
            </a:r>
            <a:r>
              <a:rPr dirty="0" sz="2600" spc="3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disease</a:t>
            </a:r>
            <a:r>
              <a:rPr dirty="0" sz="2600" spc="409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patients</a:t>
            </a:r>
            <a:r>
              <a:rPr dirty="0" sz="2600" spc="3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increases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rapidly.</a:t>
            </a:r>
            <a:r>
              <a:rPr dirty="0" sz="2600" spc="6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600" spc="6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China,</a:t>
            </a:r>
            <a:r>
              <a:rPr dirty="0" sz="2600" spc="6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dirty="0" sz="2600" spc="6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disease</a:t>
            </a:r>
            <a:r>
              <a:rPr dirty="0" sz="2600" spc="6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6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spreading</a:t>
            </a:r>
            <a:r>
              <a:rPr dirty="0" sz="2600" spc="6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dirty="0" sz="2600" spc="6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fast</a:t>
            </a:r>
            <a:r>
              <a:rPr dirty="0" sz="2600" spc="6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6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estimated</a:t>
            </a:r>
            <a:r>
              <a:rPr dirty="0" sz="2600" spc="6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dirty="0" sz="2600" spc="6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it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reaches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half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population</a:t>
            </a:r>
            <a:r>
              <a:rPr dirty="0" sz="2600" spc="-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next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years.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Wingdings"/>
              <a:buChar char=""/>
            </a:pPr>
            <a:endParaRPr sz="2600">
              <a:latin typeface="Times New Roman"/>
              <a:cs typeface="Times New Roman"/>
            </a:endParaRPr>
          </a:p>
          <a:p>
            <a:pPr algn="just" marL="490855" marR="10160" indent="-451484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490855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Parkinson’s</a:t>
            </a:r>
            <a:r>
              <a:rPr dirty="0" sz="2600" spc="1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disease</a:t>
            </a:r>
            <a:r>
              <a:rPr dirty="0" sz="2600" spc="1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second</a:t>
            </a:r>
            <a:r>
              <a:rPr dirty="0" sz="260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dirty="0" sz="2600" spc="1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dangerous</a:t>
            </a:r>
            <a:r>
              <a:rPr dirty="0" sz="2600" spc="1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neurological</a:t>
            </a:r>
            <a:r>
              <a:rPr dirty="0" sz="260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disorder</a:t>
            </a:r>
            <a:r>
              <a:rPr dirty="0" sz="2600" spc="1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that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can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lead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shaking,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shivering,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stiffness,</a:t>
            </a:r>
            <a:r>
              <a:rPr dirty="0" sz="2600" spc="-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difficulty</a:t>
            </a:r>
            <a:r>
              <a:rPr dirty="0" sz="26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walking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balance.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210566" rIns="0" bIns="0" rtlCol="0" vert="horz">
            <a:spAutoFit/>
          </a:bodyPr>
          <a:lstStyle/>
          <a:p>
            <a:pPr marL="3758565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ABSTRACT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06627" y="1593545"/>
            <a:ext cx="10724515" cy="398907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69570" marR="8255" indent="-357505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69570" algn="l"/>
                <a:tab pos="450850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	In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various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repositories,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dirty="0" sz="2600" spc="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medical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datasets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available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identifying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diseases.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Parkinson’s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considered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deadliest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progressive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nervous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system</a:t>
            </a:r>
            <a:r>
              <a:rPr dirty="0" sz="26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diseases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affect</a:t>
            </a:r>
            <a:r>
              <a:rPr dirty="0" sz="2600" spc="-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movement.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Wingdings"/>
              <a:buChar char=""/>
            </a:pPr>
            <a:endParaRPr sz="2600">
              <a:latin typeface="Times New Roman"/>
              <a:cs typeface="Times New Roman"/>
            </a:endParaRPr>
          </a:p>
          <a:p>
            <a:pPr algn="just" marL="463550" marR="13335" indent="-451484">
              <a:lnSpc>
                <a:spcPct val="100000"/>
              </a:lnSpc>
              <a:buFont typeface="Wingdings"/>
              <a:buChar char=""/>
              <a:tabLst>
                <a:tab pos="463550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dirty="0" sz="26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second</a:t>
            </a:r>
            <a:r>
              <a:rPr dirty="0" sz="26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most</a:t>
            </a:r>
            <a:r>
              <a:rPr dirty="0" sz="2600" spc="3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common</a:t>
            </a:r>
            <a:r>
              <a:rPr dirty="0" sz="2600" spc="3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neurological</a:t>
            </a:r>
            <a:r>
              <a:rPr dirty="0" sz="2600" spc="3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disorder</a:t>
            </a:r>
            <a:r>
              <a:rPr dirty="0" sz="26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dirty="0" sz="26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causes</a:t>
            </a:r>
            <a:r>
              <a:rPr dirty="0" sz="26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disability,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reduces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life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span,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still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no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cure.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Wingdings"/>
              <a:buChar char=""/>
            </a:pPr>
            <a:endParaRPr sz="2600">
              <a:latin typeface="Times New Roman"/>
              <a:cs typeface="Times New Roman"/>
            </a:endParaRPr>
          </a:p>
          <a:p>
            <a:pPr algn="just" marL="463550" marR="5080" indent="-451484">
              <a:lnSpc>
                <a:spcPct val="100000"/>
              </a:lnSpc>
              <a:buFont typeface="Wingdings"/>
              <a:buChar char=""/>
              <a:tabLst>
                <a:tab pos="463550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Nearly</a:t>
            </a:r>
            <a:r>
              <a:rPr dirty="0" sz="26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90%</a:t>
            </a:r>
            <a:r>
              <a:rPr dirty="0" sz="26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affected</a:t>
            </a:r>
            <a:r>
              <a:rPr dirty="0" sz="2600" spc="3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people</a:t>
            </a:r>
            <a:r>
              <a:rPr dirty="0" sz="26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26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dirty="0" sz="26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disease</a:t>
            </a:r>
            <a:r>
              <a:rPr dirty="0" sz="2600" spc="3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dirty="0" sz="26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speech</a:t>
            </a:r>
            <a:r>
              <a:rPr dirty="0" sz="2600" spc="3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disorders.</a:t>
            </a:r>
            <a:r>
              <a:rPr dirty="0" sz="2600" spc="3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In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real-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world</a:t>
            </a:r>
            <a:r>
              <a:rPr dirty="0" sz="26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applications,</a:t>
            </a:r>
            <a:r>
              <a:rPr dirty="0" sz="26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information</a:t>
            </a:r>
            <a:r>
              <a:rPr dirty="0" sz="26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been</a:t>
            </a:r>
            <a:r>
              <a:rPr dirty="0" sz="26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generated</a:t>
            </a:r>
            <a:r>
              <a:rPr dirty="0" sz="26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260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using</a:t>
            </a:r>
            <a:r>
              <a:rPr dirty="0" sz="26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various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2600" spc="-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2600" spc="-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techniques.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5862" rIns="0" bIns="0" rtlCol="0" vert="horz">
            <a:spAutoFit/>
          </a:bodyPr>
          <a:lstStyle/>
          <a:p>
            <a:pPr marL="155575">
              <a:lnSpc>
                <a:spcPct val="100000"/>
              </a:lnSpc>
              <a:spcBef>
                <a:spcPts val="110"/>
              </a:spcBef>
            </a:pPr>
            <a:r>
              <a:rPr dirty="0" spc="-10"/>
              <a:t>Cont..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34059" y="1118107"/>
            <a:ext cx="10885805" cy="5357495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just" marL="368935" marR="154940" indent="-356870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368935" algn="l"/>
                <a:tab pos="450215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	Machine</a:t>
            </a:r>
            <a:r>
              <a:rPr dirty="0" sz="2600" spc="5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2600" spc="5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algorithms</a:t>
            </a:r>
            <a:r>
              <a:rPr dirty="0" sz="2600" spc="6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help</a:t>
            </a:r>
            <a:r>
              <a:rPr dirty="0" sz="2600" spc="5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6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generate</a:t>
            </a:r>
            <a:r>
              <a:rPr dirty="0" sz="2600" spc="5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useful</a:t>
            </a:r>
            <a:r>
              <a:rPr dirty="0" sz="2600" spc="5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content</a:t>
            </a:r>
            <a:r>
              <a:rPr dirty="0" sz="2600" spc="5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2600" spc="5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it.</a:t>
            </a:r>
            <a:r>
              <a:rPr dirty="0" sz="2600" spc="6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To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increase</a:t>
            </a:r>
            <a:r>
              <a:rPr dirty="0" sz="2600" spc="3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lifespan</a:t>
            </a:r>
            <a:r>
              <a:rPr dirty="0" sz="26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3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elderly</a:t>
            </a:r>
            <a:r>
              <a:rPr dirty="0" sz="2600" spc="2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people</a:t>
            </a:r>
            <a:r>
              <a:rPr dirty="0" sz="26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3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26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2600" spc="3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algorithms</a:t>
            </a:r>
            <a:r>
              <a:rPr dirty="0" sz="2600" spc="3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are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dirty="0" sz="2600" spc="5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6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detect</a:t>
            </a:r>
            <a:r>
              <a:rPr dirty="0" sz="2600" spc="5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diseases</a:t>
            </a:r>
            <a:r>
              <a:rPr dirty="0" sz="2600" spc="5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600" spc="6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5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early</a:t>
            </a:r>
            <a:r>
              <a:rPr dirty="0" sz="2600" spc="5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stages.</a:t>
            </a:r>
            <a:r>
              <a:rPr dirty="0" sz="2600" spc="6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Speech</a:t>
            </a:r>
            <a:r>
              <a:rPr dirty="0" sz="2600" spc="5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features</a:t>
            </a:r>
            <a:r>
              <a:rPr dirty="0" sz="2600" spc="5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dirty="0" sz="2600" spc="6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6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main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concept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while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taking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consideration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term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‘Parkinson’s’.</a:t>
            </a:r>
            <a:endParaRPr sz="2600">
              <a:latin typeface="Times New Roman"/>
              <a:cs typeface="Times New Roman"/>
            </a:endParaRPr>
          </a:p>
          <a:p>
            <a:pPr algn="just" marL="327660" marR="34925" indent="-274320">
              <a:lnSpc>
                <a:spcPct val="99300"/>
              </a:lnSpc>
              <a:spcBef>
                <a:spcPts val="2935"/>
              </a:spcBef>
              <a:buFont typeface="Wingdings"/>
              <a:buChar char=""/>
              <a:tabLst>
                <a:tab pos="327660" algn="l"/>
                <a:tab pos="409575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	Using</a:t>
            </a:r>
            <a:r>
              <a:rPr dirty="0" sz="2600" spc="5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various</a:t>
            </a:r>
            <a:r>
              <a:rPr dirty="0" sz="2600" spc="5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2600" spc="5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2600" spc="5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techniques</a:t>
            </a:r>
            <a:r>
              <a:rPr dirty="0" sz="2600" spc="5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like</a:t>
            </a:r>
            <a:r>
              <a:rPr dirty="0" sz="2600" spc="5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KNN,</a:t>
            </a:r>
            <a:r>
              <a:rPr dirty="0" sz="2600" spc="5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Naive</a:t>
            </a:r>
            <a:r>
              <a:rPr dirty="0" sz="2600" spc="5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Bayes,</a:t>
            </a:r>
            <a:r>
              <a:rPr dirty="0" sz="2600" spc="5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and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Logistic</a:t>
            </a:r>
            <a:r>
              <a:rPr dirty="0" sz="2600" spc="1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Regression</a:t>
            </a:r>
            <a:r>
              <a:rPr dirty="0" sz="2600" spc="1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1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how</a:t>
            </a:r>
            <a:r>
              <a:rPr dirty="0" sz="26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these</a:t>
            </a:r>
            <a:r>
              <a:rPr dirty="0" sz="2600" spc="1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algorithms</a:t>
            </a:r>
            <a:r>
              <a:rPr dirty="0" sz="2600" spc="1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dirty="0" sz="2600" spc="1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dirty="0" sz="26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predict</a:t>
            </a:r>
            <a:r>
              <a:rPr dirty="0" sz="26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Parkinson’s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based</a:t>
            </a:r>
            <a:r>
              <a:rPr dirty="0" sz="2600" spc="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on</a:t>
            </a:r>
            <a:r>
              <a:rPr dirty="0" sz="2600" spc="48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input</a:t>
            </a:r>
            <a:r>
              <a:rPr dirty="0" sz="2600" spc="4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taken</a:t>
            </a:r>
            <a:r>
              <a:rPr dirty="0" sz="2600" spc="4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from</a:t>
            </a:r>
            <a:r>
              <a:rPr dirty="0" sz="2600" spc="4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user</a:t>
            </a:r>
            <a:r>
              <a:rPr dirty="0" sz="2600" spc="4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4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input</a:t>
            </a:r>
            <a:r>
              <a:rPr dirty="0" sz="2600" spc="4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2600" spc="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algorithms</a:t>
            </a:r>
            <a:r>
              <a:rPr dirty="0" sz="2600" spc="4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dataset.</a:t>
            </a:r>
            <a:endParaRPr sz="2600">
              <a:latin typeface="Times New Roman"/>
              <a:cs typeface="Times New Roman"/>
            </a:endParaRPr>
          </a:p>
          <a:p>
            <a:pPr algn="just" marL="327660" marR="5080" indent="-274320">
              <a:lnSpc>
                <a:spcPct val="99300"/>
              </a:lnSpc>
              <a:spcBef>
                <a:spcPts val="1800"/>
              </a:spcBef>
              <a:buFont typeface="Wingdings"/>
              <a:buChar char=""/>
              <a:tabLst>
                <a:tab pos="327660" algn="l"/>
                <a:tab pos="403225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	The</a:t>
            </a:r>
            <a:r>
              <a:rPr dirty="0" sz="26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accuracies</a:t>
            </a:r>
            <a:r>
              <a:rPr dirty="0" sz="2600" spc="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obtained</a:t>
            </a:r>
            <a:r>
              <a:rPr dirty="0" sz="260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2600" spc="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three</a:t>
            </a:r>
            <a:r>
              <a:rPr dirty="0" sz="2600" spc="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algorithms</a:t>
            </a:r>
            <a:r>
              <a:rPr dirty="0" sz="2600" spc="1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are</a:t>
            </a:r>
            <a:r>
              <a:rPr dirty="0" sz="26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KNN</a:t>
            </a:r>
            <a:r>
              <a:rPr dirty="0" sz="2600" spc="1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2600" spc="11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80%,</a:t>
            </a:r>
            <a:r>
              <a:rPr dirty="0" sz="2600" spc="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Logistic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Regression</a:t>
            </a:r>
            <a:r>
              <a:rPr dirty="0" sz="2600" spc="-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79%,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Naive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Bayes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highest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accuracy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81%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it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dirty="0" sz="26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6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frontend</a:t>
            </a:r>
            <a:r>
              <a:rPr dirty="0" sz="2600" spc="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predict</a:t>
            </a:r>
            <a:r>
              <a:rPr dirty="0" sz="26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whether</a:t>
            </a:r>
            <a:r>
              <a:rPr dirty="0" sz="26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patient</a:t>
            </a:r>
            <a:r>
              <a:rPr dirty="0" sz="26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has</a:t>
            </a:r>
            <a:r>
              <a:rPr dirty="0" sz="2600" spc="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Parkinson’s</a:t>
            </a:r>
            <a:r>
              <a:rPr dirty="0" sz="2600" spc="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present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or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not.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697483" y="1054989"/>
            <a:ext cx="10833735" cy="54819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0" b="1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30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000" spc="-10" b="1">
                <a:solidFill>
                  <a:srgbClr val="FFFFFF"/>
                </a:solidFill>
                <a:latin typeface="Times New Roman"/>
                <a:cs typeface="Times New Roman"/>
              </a:rPr>
              <a:t>Learning:</a:t>
            </a:r>
            <a:endParaRPr sz="3000">
              <a:latin typeface="Times New Roman"/>
              <a:cs typeface="Times New Roman"/>
            </a:endParaRPr>
          </a:p>
          <a:p>
            <a:pPr algn="just" marL="377190" marR="13970" indent="-356235">
              <a:lnSpc>
                <a:spcPct val="100000"/>
              </a:lnSpc>
              <a:spcBef>
                <a:spcPts val="1905"/>
              </a:spcBef>
              <a:buFont typeface="Wingdings"/>
              <a:buChar char=""/>
              <a:tabLst>
                <a:tab pos="378460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Splitting</a:t>
            </a:r>
            <a:r>
              <a:rPr dirty="0" sz="26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dataset</a:t>
            </a:r>
            <a:r>
              <a:rPr dirty="0" sz="26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dirty="0" sz="26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dirty="0" sz="26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dirty="0" sz="26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testing</a:t>
            </a:r>
            <a:r>
              <a:rPr dirty="0" sz="26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set:</a:t>
            </a:r>
            <a:r>
              <a:rPr dirty="0" sz="26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600" spc="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2600" spc="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2600" spc="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data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preprocessing,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have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break</a:t>
            </a:r>
            <a:r>
              <a:rPr dirty="0" sz="2600" spc="-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dataset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both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test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set.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Wingdings"/>
              <a:buChar char=""/>
            </a:pPr>
            <a:endParaRPr sz="2600">
              <a:latin typeface="Times New Roman"/>
              <a:cs typeface="Times New Roman"/>
            </a:endParaRPr>
          </a:p>
          <a:p>
            <a:pPr algn="just" marL="377190" marR="5080" indent="-356235">
              <a:lnSpc>
                <a:spcPct val="100000"/>
              </a:lnSpc>
              <a:buFont typeface="Wingdings"/>
              <a:buChar char=""/>
              <a:tabLst>
                <a:tab pos="378460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This</a:t>
            </a:r>
            <a:r>
              <a:rPr dirty="0" sz="26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often</a:t>
            </a:r>
            <a:r>
              <a:rPr dirty="0" sz="26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one</a:t>
            </a:r>
            <a:r>
              <a:rPr dirty="0" sz="26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among</a:t>
            </a:r>
            <a:r>
              <a:rPr dirty="0" sz="26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crucial</a:t>
            </a:r>
            <a:r>
              <a:rPr dirty="0" sz="26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steps</a:t>
            </a:r>
            <a:r>
              <a:rPr dirty="0" sz="2600" spc="2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2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knowledge</a:t>
            </a:r>
            <a:r>
              <a:rPr dirty="0" sz="26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preprocessing</a:t>
            </a:r>
            <a:r>
              <a:rPr dirty="0" sz="2600" spc="25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dirty="0" sz="2600" spc="2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by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doing</a:t>
            </a:r>
            <a:r>
              <a:rPr dirty="0" sz="260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this,</a:t>
            </a:r>
            <a:r>
              <a:rPr dirty="0" sz="260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dirty="0" sz="260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will</a:t>
            </a:r>
            <a:r>
              <a:rPr dirty="0" sz="2600" spc="1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enhance</a:t>
            </a:r>
            <a:r>
              <a:rPr dirty="0" sz="2600" spc="1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1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performance</a:t>
            </a:r>
            <a:r>
              <a:rPr dirty="0" sz="260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dirty="0" sz="2600" spc="204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260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260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model.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Suppose,</a:t>
            </a:r>
            <a:r>
              <a:rPr dirty="0" sz="2600" spc="2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260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we've</a:t>
            </a:r>
            <a:r>
              <a:rPr dirty="0" sz="2600" spc="2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given</a:t>
            </a:r>
            <a:r>
              <a:rPr dirty="0" sz="26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dirty="0" sz="2600" spc="2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2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dirty="0" sz="2600" spc="2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26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2600" spc="2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dirty="0" sz="2600" spc="2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2600" spc="1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2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dataset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that</a:t>
            </a:r>
            <a:r>
              <a:rPr dirty="0" sz="26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dirty="0" sz="26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test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it</a:t>
            </a:r>
            <a:r>
              <a:rPr dirty="0" sz="26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by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totally</a:t>
            </a:r>
            <a:r>
              <a:rPr dirty="0" sz="2600" spc="-5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different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dataset.</a:t>
            </a:r>
            <a:r>
              <a:rPr dirty="0" sz="26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Then,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it'll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create</a:t>
            </a:r>
            <a:r>
              <a:rPr dirty="0" sz="26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difficulties</a:t>
            </a:r>
            <a:r>
              <a:rPr dirty="0" sz="2600" spc="-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for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dirty="0" sz="26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dirty="0" sz="26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know</a:t>
            </a:r>
            <a:r>
              <a:rPr dirty="0" sz="2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correlations</a:t>
            </a:r>
            <a:r>
              <a:rPr dirty="0" sz="26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between</a:t>
            </a:r>
            <a:r>
              <a:rPr dirty="0" sz="2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models.</a:t>
            </a:r>
            <a:r>
              <a:rPr dirty="0" sz="26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r>
              <a:rPr dirty="0" sz="2600" spc="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dirty="0" sz="2600" spc="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train</a:t>
            </a:r>
            <a:r>
              <a:rPr dirty="0" sz="2600" spc="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our</a:t>
            </a:r>
            <a:r>
              <a:rPr dirty="0" sz="2600" spc="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model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alright</a:t>
            </a:r>
            <a:r>
              <a:rPr dirty="0" sz="2600" spc="5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61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its</a:t>
            </a:r>
            <a:r>
              <a:rPr dirty="0" sz="2600" spc="5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dirty="0" sz="2600" spc="60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accuracy</a:t>
            </a:r>
            <a:r>
              <a:rPr dirty="0" sz="2600" spc="5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5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additionally</a:t>
            </a:r>
            <a:r>
              <a:rPr dirty="0" sz="2600" spc="5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very</a:t>
            </a:r>
            <a:r>
              <a:rPr dirty="0" sz="2600" spc="5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high,</a:t>
            </a:r>
            <a:r>
              <a:rPr dirty="0" sz="2600" spc="5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but</a:t>
            </a:r>
            <a:r>
              <a:rPr dirty="0" sz="2600" spc="6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dirty="0" sz="2600" spc="5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offer</a:t>
            </a:r>
            <a:r>
              <a:rPr dirty="0" sz="2600" spc="5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replacement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dataset</a:t>
            </a:r>
            <a:r>
              <a:rPr dirty="0" sz="2600" spc="2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there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to,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then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it'll</a:t>
            </a:r>
            <a:r>
              <a:rPr dirty="0" sz="26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decrease the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performance.</a:t>
            </a:r>
            <a:r>
              <a:rPr dirty="0" sz="2600" spc="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So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 always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attempt</a:t>
            </a:r>
            <a:r>
              <a:rPr dirty="0" sz="2600" spc="5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to</a:t>
            </a:r>
            <a:r>
              <a:rPr dirty="0" sz="2600" spc="5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make</a:t>
            </a:r>
            <a:r>
              <a:rPr dirty="0" sz="2600" spc="5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600" spc="5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machine</a:t>
            </a:r>
            <a:r>
              <a:rPr dirty="0" sz="2600" spc="5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learning</a:t>
            </a:r>
            <a:r>
              <a:rPr dirty="0" sz="2600" spc="5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model</a:t>
            </a:r>
            <a:r>
              <a:rPr dirty="0" sz="2600" spc="56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which</a:t>
            </a:r>
            <a:r>
              <a:rPr dirty="0" sz="2600" spc="5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performs</a:t>
            </a:r>
            <a:r>
              <a:rPr dirty="0" sz="2600" spc="5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well</a:t>
            </a:r>
            <a:r>
              <a:rPr dirty="0" sz="2600" spc="5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2600" spc="5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the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dirty="0" sz="2600" spc="-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set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also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with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test</a:t>
            </a:r>
            <a:r>
              <a:rPr dirty="0" sz="2600" spc="-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dataset.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57912" rIns="0" bIns="0" rtlCol="0" vert="horz">
            <a:spAutoFit/>
          </a:bodyPr>
          <a:lstStyle/>
          <a:p>
            <a:pPr marL="2373630">
              <a:lnSpc>
                <a:spcPct val="100000"/>
              </a:lnSpc>
              <a:spcBef>
                <a:spcPts val="110"/>
              </a:spcBef>
            </a:pPr>
            <a:r>
              <a:rPr dirty="0"/>
              <a:t>DOMAIN</a:t>
            </a:r>
            <a:r>
              <a:rPr dirty="0" spc="-45"/>
              <a:t> </a:t>
            </a:r>
            <a:r>
              <a:rPr dirty="0" spc="-10"/>
              <a:t>INTRODUCTION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734059" y="1271981"/>
            <a:ext cx="10763250" cy="1214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just" marL="368935" marR="5080" indent="-356870">
              <a:lnSpc>
                <a:spcPct val="100000"/>
              </a:lnSpc>
              <a:spcBef>
                <a:spcPts val="95"/>
              </a:spcBef>
              <a:buFont typeface="Wingdings"/>
              <a:buChar char=""/>
              <a:tabLst>
                <a:tab pos="368935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Usually,</a:t>
            </a:r>
            <a:r>
              <a:rPr dirty="0" sz="2600" spc="4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we</a:t>
            </a:r>
            <a:r>
              <a:rPr dirty="0" sz="2600" spc="4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split</a:t>
            </a:r>
            <a:r>
              <a:rPr dirty="0" sz="2600" spc="4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4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dataset</a:t>
            </a:r>
            <a:r>
              <a:rPr dirty="0" sz="2600" spc="4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into</a:t>
            </a:r>
            <a:r>
              <a:rPr dirty="0" sz="2600" spc="44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train</a:t>
            </a:r>
            <a:r>
              <a:rPr dirty="0" sz="2600" spc="4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4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test</a:t>
            </a:r>
            <a:r>
              <a:rPr dirty="0" sz="2600" spc="4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r>
              <a:rPr dirty="0" sz="2600" spc="4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4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ratio</a:t>
            </a:r>
            <a:r>
              <a:rPr dirty="0" sz="2600" spc="4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47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7:3</a:t>
            </a:r>
            <a:r>
              <a:rPr dirty="0" sz="2600" spc="4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i.e.,</a:t>
            </a:r>
            <a:r>
              <a:rPr dirty="0" sz="2600" spc="45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70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percent</a:t>
            </a:r>
            <a:r>
              <a:rPr dirty="0" sz="260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26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1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dirty="0" sz="2600" spc="2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260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training</a:t>
            </a:r>
            <a:r>
              <a:rPr dirty="0" sz="2600" spc="1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and</a:t>
            </a:r>
            <a:r>
              <a:rPr dirty="0" sz="260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30</a:t>
            </a:r>
            <a:r>
              <a:rPr dirty="0" sz="2600" spc="1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percent</a:t>
            </a:r>
            <a:r>
              <a:rPr dirty="0" sz="2600" spc="1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data</a:t>
            </a:r>
            <a:r>
              <a:rPr dirty="0" sz="2600" spc="1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is</a:t>
            </a:r>
            <a:r>
              <a:rPr dirty="0" sz="2600" spc="1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used</a:t>
            </a:r>
            <a:r>
              <a:rPr dirty="0" sz="2600" spc="1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for</a:t>
            </a:r>
            <a:r>
              <a:rPr dirty="0" sz="2600" spc="17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testing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the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model.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6946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pc="-10"/>
              <a:t>Cont..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99060" rIns="0" bIns="0" rtlCol="0" vert="horz">
            <a:spAutoFit/>
          </a:bodyPr>
          <a:lstStyle/>
          <a:p>
            <a:pPr marL="2967355">
              <a:lnSpc>
                <a:spcPct val="100000"/>
              </a:lnSpc>
              <a:spcBef>
                <a:spcPts val="110"/>
              </a:spcBef>
            </a:pPr>
            <a:r>
              <a:rPr dirty="0"/>
              <a:t>EXISTING</a:t>
            </a:r>
            <a:r>
              <a:rPr dirty="0" spc="-65"/>
              <a:t> </a:t>
            </a:r>
            <a:r>
              <a:rPr dirty="0" spc="-10"/>
              <a:t>SYSTEM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70584" y="1545462"/>
            <a:ext cx="9905365" cy="2402840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algn="r" marL="514984" marR="8086725" indent="-514984">
              <a:lnSpc>
                <a:spcPct val="100000"/>
              </a:lnSpc>
              <a:spcBef>
                <a:spcPts val="90"/>
              </a:spcBef>
              <a:buAutoNum type="arabicPeriod"/>
              <a:tabLst>
                <a:tab pos="514984" algn="l"/>
              </a:tabLst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Software:</a:t>
            </a:r>
            <a:endParaRPr sz="2600">
              <a:latin typeface="Times New Roman"/>
              <a:cs typeface="Times New Roman"/>
            </a:endParaRPr>
          </a:p>
          <a:p>
            <a:pPr algn="r" lvl="1" marL="362585" marR="8082915" indent="-36258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62585" algn="l"/>
              </a:tabLst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Spyder</a:t>
            </a:r>
            <a:endParaRPr sz="2600">
              <a:latin typeface="Times New Roman"/>
              <a:cs typeface="Times New Roman"/>
            </a:endParaRPr>
          </a:p>
          <a:p>
            <a:pPr lvl="1" marL="890269" indent="-362585">
              <a:lnSpc>
                <a:spcPct val="100000"/>
              </a:lnSpc>
              <a:buFont typeface="Arial MT"/>
              <a:buChar char="•"/>
              <a:tabLst>
                <a:tab pos="890269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Google</a:t>
            </a:r>
            <a:r>
              <a:rPr dirty="0" sz="2600" spc="-6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Colab</a:t>
            </a:r>
            <a:endParaRPr sz="2600">
              <a:latin typeface="Times New Roman"/>
              <a:cs typeface="Times New Roman"/>
            </a:endParaRPr>
          </a:p>
          <a:p>
            <a:pPr marL="591185" indent="-496570">
              <a:lnSpc>
                <a:spcPct val="100000"/>
              </a:lnSpc>
              <a:buAutoNum type="arabicPeriod"/>
              <a:tabLst>
                <a:tab pos="591185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Operating</a:t>
            </a:r>
            <a:r>
              <a:rPr dirty="0" sz="2600" spc="-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System:</a:t>
            </a:r>
            <a:r>
              <a:rPr dirty="0" sz="26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Windows</a:t>
            </a:r>
            <a:r>
              <a:rPr dirty="0" sz="26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endParaRPr sz="2600">
              <a:latin typeface="Times New Roman"/>
              <a:cs typeface="Times New Roman"/>
            </a:endParaRPr>
          </a:p>
          <a:p>
            <a:pPr marL="584835" indent="-490220">
              <a:lnSpc>
                <a:spcPct val="100000"/>
              </a:lnSpc>
              <a:buAutoNum type="arabicPeriod"/>
              <a:tabLst>
                <a:tab pos="584835" algn="l"/>
              </a:tabLst>
            </a:pPr>
            <a:r>
              <a:rPr dirty="0" sz="2600" spc="-30">
                <a:solidFill>
                  <a:srgbClr val="FFFFFF"/>
                </a:solidFill>
                <a:latin typeface="Times New Roman"/>
                <a:cs typeface="Times New Roman"/>
              </a:rPr>
              <a:t>Tools:</a:t>
            </a:r>
            <a:r>
              <a:rPr dirty="0" sz="2600" spc="-13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Web</a:t>
            </a:r>
            <a:r>
              <a:rPr dirty="0" sz="26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Browser</a:t>
            </a:r>
            <a:endParaRPr sz="2600">
              <a:latin typeface="Times New Roman"/>
              <a:cs typeface="Times New Roman"/>
            </a:endParaRPr>
          </a:p>
          <a:p>
            <a:pPr marL="591185" indent="-49657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591185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Python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Libraries:</a:t>
            </a:r>
            <a:r>
              <a:rPr dirty="0" sz="26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20">
                <a:solidFill>
                  <a:srgbClr val="FFFFFF"/>
                </a:solidFill>
                <a:latin typeface="Times New Roman"/>
                <a:cs typeface="Times New Roman"/>
              </a:rPr>
              <a:t>numpy,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pandas,</a:t>
            </a:r>
            <a:r>
              <a:rPr dirty="0" sz="2600" spc="-9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matplotlab,</a:t>
            </a:r>
            <a:r>
              <a:rPr dirty="0" sz="26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seaborn,</a:t>
            </a:r>
            <a:r>
              <a:rPr dirty="0" sz="26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sklearn,</a:t>
            </a:r>
            <a:r>
              <a:rPr dirty="0" sz="2600" spc="-10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pickle.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26238" rIns="0" bIns="0" rtlCol="0" vert="horz">
            <a:spAutoFit/>
          </a:bodyPr>
          <a:lstStyle/>
          <a:p>
            <a:pPr marL="767715">
              <a:lnSpc>
                <a:spcPct val="100000"/>
              </a:lnSpc>
              <a:spcBef>
                <a:spcPts val="110"/>
              </a:spcBef>
            </a:pPr>
            <a:r>
              <a:rPr dirty="0"/>
              <a:t>EXISTING</a:t>
            </a:r>
            <a:r>
              <a:rPr dirty="0" spc="-75"/>
              <a:t> </a:t>
            </a:r>
            <a:r>
              <a:rPr dirty="0"/>
              <a:t>SYSTEM</a:t>
            </a:r>
            <a:r>
              <a:rPr dirty="0" spc="-60"/>
              <a:t> </a:t>
            </a:r>
            <a:r>
              <a:rPr dirty="0" spc="15"/>
              <a:t>DIS</a:t>
            </a:r>
            <a:r>
              <a:rPr dirty="0" spc="30"/>
              <a:t>A</a:t>
            </a:r>
            <a:r>
              <a:rPr dirty="0" spc="15"/>
              <a:t>D</a:t>
            </a:r>
            <a:r>
              <a:rPr dirty="0" spc="-475"/>
              <a:t>V</a:t>
            </a:r>
            <a:r>
              <a:rPr dirty="0" spc="-5"/>
              <a:t>A</a:t>
            </a:r>
            <a:r>
              <a:rPr dirty="0" spc="15"/>
              <a:t>N</a:t>
            </a:r>
            <a:r>
              <a:rPr dirty="0" spc="-300"/>
              <a:t>T</a:t>
            </a:r>
            <a:r>
              <a:rPr dirty="0" spc="-5"/>
              <a:t>A</a:t>
            </a:r>
            <a:r>
              <a:rPr dirty="0" spc="15"/>
              <a:t>GES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952296" y="1498854"/>
            <a:ext cx="5568315" cy="2005964"/>
          </a:xfrm>
          <a:prstGeom prst="rect">
            <a:avLst/>
          </a:prstGeom>
        </p:spPr>
        <p:txBody>
          <a:bodyPr wrap="square" lIns="0" tIns="11430" rIns="0" bIns="0" rtlCol="0" vert="horz">
            <a:spAutoFit/>
          </a:bodyPr>
          <a:lstStyle/>
          <a:p>
            <a:pPr marL="356870" indent="-344170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356870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More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man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power.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FFFFFF"/>
              </a:buClr>
              <a:buFont typeface="Wingdings"/>
              <a:buChar char=""/>
            </a:pPr>
            <a:endParaRPr sz="2600">
              <a:latin typeface="Times New Roman"/>
              <a:cs typeface="Times New Roman"/>
            </a:endParaRPr>
          </a:p>
          <a:p>
            <a:pPr marL="350520" indent="-337820">
              <a:lnSpc>
                <a:spcPct val="100000"/>
              </a:lnSpc>
              <a:spcBef>
                <a:spcPts val="5"/>
              </a:spcBef>
              <a:buFont typeface="Wingdings"/>
              <a:buChar char=""/>
              <a:tabLst>
                <a:tab pos="350520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Time</a:t>
            </a:r>
            <a:r>
              <a:rPr dirty="0" sz="2600" spc="-13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Consuming.</a:t>
            </a:r>
            <a:endParaRPr sz="26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30"/>
              </a:spcBef>
              <a:buClr>
                <a:srgbClr val="FFFFFF"/>
              </a:buClr>
              <a:buFont typeface="Wingdings"/>
              <a:buChar char=""/>
            </a:pPr>
            <a:endParaRPr sz="2600">
              <a:latin typeface="Times New Roman"/>
              <a:cs typeface="Times New Roman"/>
            </a:endParaRPr>
          </a:p>
          <a:p>
            <a:pPr marL="356870" indent="-344170">
              <a:lnSpc>
                <a:spcPct val="100000"/>
              </a:lnSpc>
              <a:buFont typeface="Wingdings"/>
              <a:buChar char=""/>
              <a:tabLst>
                <a:tab pos="356870" algn="l"/>
              </a:tabLst>
            </a:pP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Consumes</a:t>
            </a:r>
            <a:r>
              <a:rPr dirty="0" sz="2600" spc="-2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large</a:t>
            </a:r>
            <a:r>
              <a:rPr dirty="0" sz="2600" spc="-8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volume</a:t>
            </a:r>
            <a:r>
              <a:rPr dirty="0" sz="2600" spc="-4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of</a:t>
            </a:r>
            <a:r>
              <a:rPr dirty="0" sz="2600" spc="-85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>
                <a:solidFill>
                  <a:srgbClr val="FFFFFF"/>
                </a:solidFill>
                <a:latin typeface="Times New Roman"/>
                <a:cs typeface="Times New Roman"/>
              </a:rPr>
              <a:t>paper</a:t>
            </a:r>
            <a:r>
              <a:rPr dirty="0" sz="2600" spc="-9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work.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85344" rIns="0" bIns="0" rtlCol="0" vert="horz">
            <a:spAutoFit/>
          </a:bodyPr>
          <a:lstStyle/>
          <a:p>
            <a:pPr marL="2656205">
              <a:lnSpc>
                <a:spcPct val="100000"/>
              </a:lnSpc>
              <a:spcBef>
                <a:spcPts val="110"/>
              </a:spcBef>
            </a:pPr>
            <a:r>
              <a:rPr dirty="0"/>
              <a:t>PROPOSED</a:t>
            </a:r>
            <a:r>
              <a:rPr dirty="0" spc="-75"/>
              <a:t> </a:t>
            </a:r>
            <a:r>
              <a:rPr dirty="0" spc="-10"/>
              <a:t>SYSTEM</a:t>
            </a:r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62200" y="1255775"/>
            <a:ext cx="7394448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3670" rIns="0" bIns="0" rtlCol="0" vert="horz">
            <a:spAutoFit/>
          </a:bodyPr>
          <a:lstStyle/>
          <a:p>
            <a:pPr marL="1009015">
              <a:lnSpc>
                <a:spcPct val="100000"/>
              </a:lnSpc>
              <a:spcBef>
                <a:spcPts val="110"/>
              </a:spcBef>
            </a:pPr>
            <a:r>
              <a:rPr dirty="0"/>
              <a:t>PROPOSED</a:t>
            </a:r>
            <a:r>
              <a:rPr dirty="0" spc="-70"/>
              <a:t> </a:t>
            </a:r>
            <a:r>
              <a:rPr dirty="0" spc="-10"/>
              <a:t>SYSTEM</a:t>
            </a:r>
            <a:r>
              <a:rPr dirty="0" spc="-235"/>
              <a:t> </a:t>
            </a:r>
            <a:r>
              <a:rPr dirty="0" spc="20"/>
              <a:t>A</a:t>
            </a:r>
            <a:r>
              <a:rPr dirty="0" spc="30"/>
              <a:t>D</a:t>
            </a:r>
            <a:r>
              <a:rPr dirty="0" spc="-480"/>
              <a:t>V</a:t>
            </a:r>
            <a:r>
              <a:rPr dirty="0" spc="20"/>
              <a:t>AN</a:t>
            </a:r>
            <a:r>
              <a:rPr dirty="0" spc="-310"/>
              <a:t>T</a:t>
            </a:r>
            <a:r>
              <a:rPr dirty="0" spc="20"/>
              <a:t>A</a:t>
            </a:r>
            <a:r>
              <a:rPr dirty="0"/>
              <a:t>G</a:t>
            </a:r>
            <a:r>
              <a:rPr dirty="0" spc="20"/>
              <a:t>ES</a:t>
            </a:r>
          </a:p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430" rIns="0" bIns="0" rtlCol="0" vert="horz">
            <a:spAutoFit/>
          </a:bodyPr>
          <a:lstStyle/>
          <a:p>
            <a:pPr algn="just" marL="463550" marR="5080" indent="-451484">
              <a:lnSpc>
                <a:spcPct val="100000"/>
              </a:lnSpc>
              <a:spcBef>
                <a:spcPts val="90"/>
              </a:spcBef>
              <a:buFont typeface="Wingdings"/>
              <a:buChar char=""/>
              <a:tabLst>
                <a:tab pos="463550" algn="l"/>
              </a:tabLst>
            </a:pPr>
            <a:r>
              <a:rPr dirty="0"/>
              <a:t>They</a:t>
            </a:r>
            <a:r>
              <a:rPr dirty="0" spc="10"/>
              <a:t>  </a:t>
            </a:r>
            <a:r>
              <a:rPr dirty="0"/>
              <a:t>judge</a:t>
            </a:r>
            <a:r>
              <a:rPr dirty="0" spc="35"/>
              <a:t>  </a:t>
            </a:r>
            <a:r>
              <a:rPr dirty="0"/>
              <a:t>the</a:t>
            </a:r>
            <a:r>
              <a:rPr dirty="0" spc="20"/>
              <a:t>  </a:t>
            </a:r>
            <a:r>
              <a:rPr dirty="0"/>
              <a:t>software</a:t>
            </a:r>
            <a:r>
              <a:rPr dirty="0" spc="30"/>
              <a:t>  </a:t>
            </a:r>
            <a:r>
              <a:rPr dirty="0"/>
              <a:t>supported</a:t>
            </a:r>
            <a:r>
              <a:rPr dirty="0" spc="35"/>
              <a:t>  </a:t>
            </a:r>
            <a:r>
              <a:rPr dirty="0"/>
              <a:t>Responsiveness,</a:t>
            </a:r>
            <a:r>
              <a:rPr dirty="0" spc="25"/>
              <a:t>  </a:t>
            </a:r>
            <a:r>
              <a:rPr dirty="0"/>
              <a:t>Usability,</a:t>
            </a:r>
            <a:r>
              <a:rPr dirty="0" spc="35"/>
              <a:t>  </a:t>
            </a:r>
            <a:r>
              <a:rPr dirty="0" spc="-10"/>
              <a:t>Security, Portability, </a:t>
            </a:r>
            <a:r>
              <a:rPr dirty="0"/>
              <a:t>and</a:t>
            </a:r>
            <a:r>
              <a:rPr dirty="0" spc="-20"/>
              <a:t> </a:t>
            </a:r>
            <a:r>
              <a:rPr dirty="0"/>
              <a:t>other</a:t>
            </a:r>
            <a:r>
              <a:rPr dirty="0" spc="-15"/>
              <a:t> </a:t>
            </a:r>
            <a:r>
              <a:rPr dirty="0" spc="-10"/>
              <a:t>non-</a:t>
            </a:r>
            <a:r>
              <a:rPr dirty="0"/>
              <a:t>functional</a:t>
            </a:r>
            <a:r>
              <a:rPr dirty="0" spc="-15"/>
              <a:t> </a:t>
            </a:r>
            <a:r>
              <a:rPr dirty="0"/>
              <a:t>standards</a:t>
            </a:r>
            <a:r>
              <a:rPr dirty="0" spc="5"/>
              <a:t> </a:t>
            </a:r>
            <a:r>
              <a:rPr dirty="0"/>
              <a:t>that</a:t>
            </a:r>
            <a:r>
              <a:rPr dirty="0" spc="-20"/>
              <a:t> </a:t>
            </a:r>
            <a:r>
              <a:rPr dirty="0"/>
              <a:t>are</a:t>
            </a:r>
            <a:r>
              <a:rPr dirty="0" spc="-15"/>
              <a:t> </a:t>
            </a:r>
            <a:r>
              <a:rPr dirty="0"/>
              <a:t>critical</a:t>
            </a:r>
            <a:r>
              <a:rPr dirty="0" spc="-15"/>
              <a:t> </a:t>
            </a:r>
            <a:r>
              <a:rPr dirty="0"/>
              <a:t>to</a:t>
            </a:r>
            <a:r>
              <a:rPr dirty="0" spc="-15"/>
              <a:t> </a:t>
            </a:r>
            <a:r>
              <a:rPr dirty="0"/>
              <a:t>the</a:t>
            </a:r>
            <a:r>
              <a:rPr dirty="0" spc="10"/>
              <a:t> </a:t>
            </a:r>
            <a:r>
              <a:rPr dirty="0" spc="-10"/>
              <a:t>success </a:t>
            </a:r>
            <a:r>
              <a:rPr dirty="0"/>
              <a:t>of</a:t>
            </a:r>
            <a:r>
              <a:rPr dirty="0" spc="-40"/>
              <a:t> </a:t>
            </a:r>
            <a:r>
              <a:rPr dirty="0"/>
              <a:t>the</a:t>
            </a:r>
            <a:r>
              <a:rPr dirty="0" spc="-10"/>
              <a:t> software.</a:t>
            </a:r>
          </a:p>
          <a:p>
            <a:pPr>
              <a:lnSpc>
                <a:spcPct val="100000"/>
              </a:lnSpc>
              <a:spcBef>
                <a:spcPts val="1015"/>
              </a:spcBef>
              <a:buClr>
                <a:srgbClr val="FFFFFF"/>
              </a:buClr>
              <a:buFont typeface="Wingdings"/>
              <a:buChar char=""/>
            </a:pPr>
          </a:p>
          <a:p>
            <a:pPr lvl="1" marL="537210" indent="-325120">
              <a:lnSpc>
                <a:spcPct val="100000"/>
              </a:lnSpc>
              <a:buFont typeface="Wingdings"/>
              <a:buChar char=""/>
              <a:tabLst>
                <a:tab pos="537210" algn="l"/>
              </a:tabLst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Accuracy</a:t>
            </a:r>
            <a:endParaRPr sz="2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30"/>
              </a:spcBef>
              <a:buClr>
                <a:srgbClr val="FFFFFF"/>
              </a:buClr>
              <a:buFont typeface="Wingdings"/>
              <a:buChar char=""/>
            </a:pPr>
          </a:p>
          <a:p>
            <a:pPr lvl="1" marL="556260" indent="-344170">
              <a:lnSpc>
                <a:spcPct val="100000"/>
              </a:lnSpc>
              <a:buFont typeface="Wingdings"/>
              <a:buChar char=""/>
              <a:tabLst>
                <a:tab pos="556260" algn="l"/>
              </a:tabLst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Reliability</a:t>
            </a:r>
            <a:endParaRPr sz="2600">
              <a:latin typeface="Times New Roman"/>
              <a:cs typeface="Times New Roman"/>
            </a:endParaRPr>
          </a:p>
          <a:p>
            <a:pPr lvl="1">
              <a:lnSpc>
                <a:spcPct val="100000"/>
              </a:lnSpc>
              <a:spcBef>
                <a:spcPts val="135"/>
              </a:spcBef>
              <a:buClr>
                <a:srgbClr val="FFFFFF"/>
              </a:buClr>
              <a:buFont typeface="Wingdings"/>
              <a:buChar char=""/>
            </a:pPr>
          </a:p>
          <a:p>
            <a:pPr lvl="1" marL="556260" indent="-344170">
              <a:lnSpc>
                <a:spcPct val="100000"/>
              </a:lnSpc>
              <a:buFont typeface="Wingdings"/>
              <a:buChar char=""/>
              <a:tabLst>
                <a:tab pos="556260" algn="l"/>
              </a:tabLst>
            </a:pPr>
            <a:r>
              <a:rPr dirty="0" sz="2600" spc="-10">
                <a:solidFill>
                  <a:srgbClr val="FFFFFF"/>
                </a:solidFill>
                <a:latin typeface="Times New Roman"/>
                <a:cs typeface="Times New Roman"/>
              </a:rPr>
              <a:t>Flexibility</a:t>
            </a:r>
            <a:endParaRPr sz="26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8778" y="295685"/>
            <a:ext cx="11591455" cy="612355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2026-01-22T07:53:24Z</dcterms:created>
  <dcterms:modified xsi:type="dcterms:W3CDTF">2026-01-22T07:53:24Z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2023-03-15T00:00:00Z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2026-01-22T00:00:00Z</vt:filetime>
  </property>
  <property fmtid="{D5CDD505-2E9C-101B-9397-08002B2CF9AE}" pid="5" name="Producer">
    <vt:lpwstr>www.ilovepdf.com</vt:lpwstr>
  </property>
</Properties>
</file>